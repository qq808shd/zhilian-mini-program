
<file path=[Content_Types].xml><?xml version="1.0" encoding="utf-8"?>
<Types xmlns="http://schemas.openxmlformats.org/package/2006/content-types">
  <Default Extension="tiff" ContentType="image/tif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2"/>
  </p:handoutMasterIdLst>
  <p:sldIdLst>
    <p:sldId id="269" r:id="rId3"/>
    <p:sldId id="271" r:id="rId5"/>
    <p:sldId id="280" r:id="rId6"/>
    <p:sldId id="262" r:id="rId7"/>
    <p:sldId id="273" r:id="rId8"/>
    <p:sldId id="275" r:id="rId9"/>
    <p:sldId id="482" r:id="rId10"/>
    <p:sldId id="266" r:id="rId11"/>
    <p:sldId id="483" r:id="rId12"/>
    <p:sldId id="268" r:id="rId13"/>
    <p:sldId id="287" r:id="rId14"/>
    <p:sldId id="285" r:id="rId15"/>
    <p:sldId id="264" r:id="rId16"/>
    <p:sldId id="257" r:id="rId17"/>
    <p:sldId id="311" r:id="rId18"/>
    <p:sldId id="301" r:id="rId19"/>
    <p:sldId id="270" r:id="rId20"/>
    <p:sldId id="484" r:id="rId21"/>
    <p:sldId id="272" r:id="rId22"/>
    <p:sldId id="274" r:id="rId23"/>
    <p:sldId id="263" r:id="rId24"/>
    <p:sldId id="261" r:id="rId25"/>
    <p:sldId id="284" r:id="rId26"/>
    <p:sldId id="297" r:id="rId27"/>
    <p:sldId id="288" r:id="rId28"/>
    <p:sldId id="289" r:id="rId29"/>
    <p:sldId id="267" r:id="rId30"/>
    <p:sldId id="290" r:id="rId31"/>
    <p:sldId id="303" r:id="rId32"/>
    <p:sldId id="451" r:id="rId33"/>
    <p:sldId id="286" r:id="rId34"/>
    <p:sldId id="281" r:id="rId35"/>
    <p:sldId id="331" r:id="rId36"/>
    <p:sldId id="330" r:id="rId37"/>
    <p:sldId id="540" r:id="rId38"/>
    <p:sldId id="542" r:id="rId39"/>
    <p:sldId id="541" r:id="rId40"/>
    <p:sldId id="543" r:id="rId41"/>
    <p:sldId id="314" r:id="rId42"/>
    <p:sldId id="485" r:id="rId43"/>
    <p:sldId id="308" r:id="rId44"/>
    <p:sldId id="309" r:id="rId45"/>
    <p:sldId id="332" r:id="rId46"/>
    <p:sldId id="316" r:id="rId47"/>
    <p:sldId id="258" r:id="rId48"/>
    <p:sldId id="259" r:id="rId49"/>
    <p:sldId id="304" r:id="rId50"/>
    <p:sldId id="486" r:id="rId51"/>
    <p:sldId id="291" r:id="rId52"/>
    <p:sldId id="292" r:id="rId53"/>
    <p:sldId id="295" r:id="rId54"/>
    <p:sldId id="406" r:id="rId55"/>
    <p:sldId id="282" r:id="rId56"/>
    <p:sldId id="278" r:id="rId57"/>
    <p:sldId id="296" r:id="rId58"/>
    <p:sldId id="313" r:id="rId59"/>
    <p:sldId id="294" r:id="rId60"/>
    <p:sldId id="302" r:id="rId61"/>
    <p:sldId id="315" r:id="rId62"/>
    <p:sldId id="283" r:id="rId63"/>
    <p:sldId id="298" r:id="rId64"/>
    <p:sldId id="305" r:id="rId65"/>
    <p:sldId id="260" r:id="rId66"/>
    <p:sldId id="293" r:id="rId67"/>
    <p:sldId id="265" r:id="rId68"/>
    <p:sldId id="306" r:id="rId69"/>
    <p:sldId id="487" r:id="rId70"/>
    <p:sldId id="307" r:id="rId71"/>
  </p:sldIdLst>
  <p:sldSz cx="12192000" cy="6858000"/>
  <p:notesSz cx="6858000" cy="9144000"/>
  <p:custDataLst>
    <p:tags r:id="rId7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小倩" initials="小" lastIdx="1" clrIdx="0"/>
  <p:cmAuthor id="0" name="吕娜" initials="W用" lastIdx="0" clrIdx="0"/>
  <p:cmAuthor id="14" name="作者" initials="A" lastIdx="0" clrIdx="3"/>
  <p:cmAuthor id="2" name="wangxi-049" initials="w" lastIdx="2" clrIdx="1"/>
  <p:cmAuthor id="3" name="Mz" initials="M" lastIdx="1" clrIdx="0"/>
  <p:cmAuthor id="4" name="马妍" initials="马" lastIdx="1" clrIdx="0"/>
  <p:cmAuthor id="7" name="Administrator" initials="A" lastIdx="2" clrIdx="6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7" Type="http://schemas.openxmlformats.org/officeDocument/2006/relationships/tags" Target="tags/tag1.xml"/><Relationship Id="rId76" Type="http://schemas.openxmlformats.org/officeDocument/2006/relationships/commentAuthors" Target="commentAuthors.xml"/><Relationship Id="rId75" Type="http://schemas.openxmlformats.org/officeDocument/2006/relationships/tableStyles" Target="tableStyles.xml"/><Relationship Id="rId74" Type="http://schemas.openxmlformats.org/officeDocument/2006/relationships/viewProps" Target="viewProps.xml"/><Relationship Id="rId73" Type="http://schemas.openxmlformats.org/officeDocument/2006/relationships/presProps" Target="presProps.xml"/><Relationship Id="rId72" Type="http://schemas.openxmlformats.org/officeDocument/2006/relationships/handoutMaster" Target="handoutMasters/handoutMaster1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没有能够与之相比的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没有能超过的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赞叹所见事物好到极点。搭配</a:t>
            </a:r>
            <a:r>
              <a:rPr lang="en-US" altLang="zh-CN"/>
              <a:t>“</a:t>
            </a:r>
            <a:r>
              <a:rPr lang="zh-CN" altLang="en-US"/>
              <a:t>令人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/>
              <a:t>让人</a:t>
            </a:r>
            <a:r>
              <a:rPr lang="en-US" altLang="zh-CN"/>
              <a:t>”</a:t>
            </a:r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占领首位，取得第一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学问、技艺达到最高境界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没有主见，只会随声附和（别人说啥，他说啥）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自己没有立场和主见，只是随着潮流走（别人干啥，他干啥）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辛苦一次，以后就不再费力了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做事轻而易举就成功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见效快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只顾眼前利益，不顾长远发展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只顾眼前利益，不顾长远发展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入不敷出，预先借支（花呗、信用卡）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方式方法错误，达不到目的</a:t>
            </a:r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方式方法错误，达不到目的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用有害的方法解决问题，反而害了自己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从根本上解决问题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从根本上解决问题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藏书多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书籍、信息、资料多（文字类）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相比之下，显出不足</a:t>
            </a:r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相比之下，远远不足</a:t>
            </a:r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另创一种风格或方法</a:t>
            </a:r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用新方法解决问题，褒义词</a:t>
            </a:r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粗略地观察事物。搭配具象事物、正在进行时。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印象不深。搭配抽象事物、完成时。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做事肤浅不深入，搭配普适性的对象。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做事肤浅不深入，搭配学术性、专业性的对象。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美好事物繁多，形成盛大的景象。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某一事物流行，逐渐形成一种风气。褒义词</a:t>
            </a:r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某一事物流行，逐渐形成一种风气。贬义词</a:t>
            </a:r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彻底改变，坏人重新做人</a:t>
            </a:r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只改形式，不变内容</a:t>
            </a:r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坏人经过一番打扮，登上政治舞台</a:t>
            </a:r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好坏掺杂在一起</a:t>
            </a:r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好坏掺杂在一起</a:t>
            </a:r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好坏掺杂在一起（一般搭配人）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以次充好，以假乱真</a:t>
            </a:r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遵守规矩，不敢稍作变动</a:t>
            </a:r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思想保守，守着老规矩不肯改变。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经历了长久的时间，反而更鲜活、更有生命力。（老来俏，岁数越大越有味道）</a:t>
            </a:r>
            <a:endParaRPr lang="en-US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去掉旧事物的糟粕，取其精华，并使它向新的方向发展（换赛道，没有任何新事物产生）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去除旧的，建立新的</a:t>
            </a:r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用单一标准看待有差异的事物。（贬义词）</a:t>
            </a:r>
            <a:endParaRPr lang="en-US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不同时间的状态，放在同一时间来讨论（只搭配一个主体，如：以前的我你爱答不理，现在的我你高攀不起）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赶得上</a:t>
            </a:r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顾此失彼，陷入窘境（或者难题不易解决）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顾此失彼</a:t>
            </a:r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罪行多的写不完</a:t>
            </a:r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按照形势的发展，必须采取行动</a:t>
            </a:r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去除坏的，发扬好的</a:t>
            </a:r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不明确表态</a:t>
            </a:r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与众不同</a:t>
            </a:r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关系密切，利害相同</a:t>
            </a:r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治理天下的才能，只能搭配人</a:t>
            </a:r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根据各地的情况，采取适宜的措施。（文段中的地点要大于等于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，不可搭配单一地点）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新生事物正在发展，尚未停止</a:t>
            </a:r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因实力不足或条件不够，而感到无奈</a:t>
            </a:r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差别很大，区别明显（无好坏之分）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某些事物、言论信奉为行事的准则。（奉为圣旨）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首先受到冲击、攻击或首先遭受灾难</a:t>
            </a:r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容易引起</a:t>
            </a:r>
            <a:r>
              <a:rPr lang="zh-CN" altLang="en-US"/>
              <a:t>嫌疑之处</a:t>
            </a:r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创业的艰辛（不能搭配个体户，可以搭配大企业、国家）</a:t>
            </a:r>
            <a:endParaRPr lang="en-US" altLang="zh-CN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比喻学问和技艺代代相传，或者文化精神的传承。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建筑、船密而整齐</a:t>
            </a:r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多</a:t>
            </a:r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对事情隐瞒得很紧</a:t>
            </a:r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权势大，气焰盛，让人难以接近。贬义词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线连接符 7"/>
          <p:cNvCxnSpPr/>
          <p:nvPr userDrawn="1"/>
        </p:nvCxnSpPr>
        <p:spPr>
          <a:xfrm>
            <a:off x="516534" y="679050"/>
            <a:ext cx="111589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17894" y="4067506"/>
            <a:ext cx="1762543" cy="26187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3B23-0832-45A0-A4FA-5F0F33014B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E2AA1-BA73-4226-8507-FB925A1469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3B23-0832-45A0-A4FA-5F0F33014B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E2AA1-BA73-4226-8507-FB925A1469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3B23-0832-45A0-A4FA-5F0F33014B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E2AA1-BA73-4226-8507-FB925A1469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3B23-0832-45A0-A4FA-5F0F33014B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E2AA1-BA73-4226-8507-FB925A1469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3B23-0832-45A0-A4FA-5F0F33014B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E2AA1-BA73-4226-8507-FB925A1469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3B23-0832-45A0-A4FA-5F0F33014B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E2AA1-BA73-4226-8507-FB925A1469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3B23-0832-45A0-A4FA-5F0F33014B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E2AA1-BA73-4226-8507-FB925A1469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3B23-0832-45A0-A4FA-5F0F33014B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E2AA1-BA73-4226-8507-FB925A1469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3B23-0832-45A0-A4FA-5F0F33014B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E2AA1-BA73-4226-8507-FB925A1469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3B23-0832-45A0-A4FA-5F0F33014B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E2AA1-BA73-4226-8507-FB925A1469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emf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fld id="{9A673B23-0832-45A0-A4FA-5F0F33014B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fld id="{718E2AA1-BA73-4226-8507-FB925A14697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520700" y="282575"/>
            <a:ext cx="1160780" cy="349250"/>
          </a:xfrm>
          <a:prstGeom prst="rect">
            <a:avLst/>
          </a:prstGeom>
        </p:spPr>
      </p:pic>
      <p:cxnSp>
        <p:nvCxnSpPr>
          <p:cNvPr id="8" name="直线连接符 7"/>
          <p:cNvCxnSpPr/>
          <p:nvPr userDrawn="1"/>
        </p:nvCxnSpPr>
        <p:spPr>
          <a:xfrm>
            <a:off x="516534" y="679050"/>
            <a:ext cx="111589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 userDrawn="1"/>
        </p:nvSpPr>
        <p:spPr>
          <a:xfrm>
            <a:off x="9953625" y="365125"/>
            <a:ext cx="17221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以爱之名  白鲸相伴</a:t>
            </a:r>
            <a:endParaRPr kumimoji="1"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无与伦比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无出其右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叹为观止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独占鳌头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登峰造极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人云亦云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随波逐流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一劳永逸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一蹴而就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立竿见影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杀鸡取卵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竭泽而渔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寅吃卯粮</a:t>
            </a:r>
            <a:endParaRPr lang="en-US" alt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缘木求鱼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升山采珠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饮鸩止渴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正本清源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釜底抽薪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汗牛充栋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浩如烟海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相形见绌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黯然失色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另辟蹊径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剑走偏锋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走马观花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浮光掠影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蜻蜓点水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浅尝辄止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蔚为大观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蔚然成</a:t>
            </a:r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风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大行其道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脱胎换骨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改头换面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粉墨登场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altLang="en-US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泥沙俱下</a:t>
            </a:r>
            <a:endParaRPr lang="zh-CN" altLang="en-US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altLang="en-US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良莠不齐</a:t>
            </a:r>
            <a:endParaRPr lang="zh-CN" altLang="en-US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altLang="en-US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鱼龙混杂</a:t>
            </a:r>
            <a:endParaRPr lang="zh-CN" altLang="en-US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altLang="en-US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鱼目混珠</a:t>
            </a:r>
            <a:endParaRPr lang="zh-CN" altLang="en-US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循规蹈矩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墨守成规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历久弥新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推陈出新</a:t>
            </a:r>
            <a:endParaRPr lang="zh-CN" altLang="en-US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革故鼎新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等量齐观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同日而语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望其项背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捉襟见肘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左支右绌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罄竹难书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势在必行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激浊扬清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不置可否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独树一帜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休戚与共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经天纬地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因地制宜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方兴未艾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望洋兴叹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大相径庭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奉为圭臬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首当其冲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瓜田李下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筚路蓝缕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薪火相传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鳞次栉比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俯拾即是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讳莫如深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炙手可热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</p:sld>
</file>

<file path=ppt/tags/tag1.xml><?xml version="1.0" encoding="utf-8"?>
<p:tagLst xmlns:p="http://schemas.openxmlformats.org/presentationml/2006/main">
  <p:tag name="COMMONDATA" val="eyJoZGlkIjoiMDY1ZWRjM2ZmYmNhNjliMGMyZmEwYmNkMjNlNjQ5Y2UifQ=="/>
  <p:tag name="KSO_WPP_MARK_KEY" val="82386b8f-c69f-4c64-a9ad-1c234216ab0a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</Words>
  <Application>WPS 演示</Application>
  <PresentationFormat>宽屏</PresentationFormat>
  <Paragraphs>136</Paragraphs>
  <Slides>68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77" baseType="lpstr">
      <vt:lpstr>Arial</vt:lpstr>
      <vt:lpstr>宋体</vt:lpstr>
      <vt:lpstr>Wingdings</vt:lpstr>
      <vt:lpstr>微软雅黑</vt:lpstr>
      <vt:lpstr>楷体</vt:lpstr>
      <vt:lpstr>Arial Unicode MS</vt:lpstr>
      <vt:lpstr>等线 Light</vt:lpstr>
      <vt:lpstr>Calibri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小花</cp:lastModifiedBy>
  <cp:revision>218</cp:revision>
  <dcterms:created xsi:type="dcterms:W3CDTF">2019-06-19T02:08:00Z</dcterms:created>
  <dcterms:modified xsi:type="dcterms:W3CDTF">2025-07-30T07:38:30Z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2052-12.1.0.22215</vt:lpwstr>
  </property>
  <property fmtid="{D5CDD505-2E9C-101B-9397-08002B2CF9AE}" pid="3" name="ICV">
    <vt:lpwstr>605FB78A805D4385930AFDE67C48DD73</vt:lpwstr>
  </property>
</Properties>
</file>